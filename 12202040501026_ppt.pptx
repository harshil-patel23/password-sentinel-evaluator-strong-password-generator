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9"/>
  </p:notesMasterIdLst>
  <p:sldIdLst>
    <p:sldId id="1062" r:id="rId5"/>
    <p:sldId id="256" r:id="rId6"/>
    <p:sldId id="1065" r:id="rId7"/>
    <p:sldId id="1074" r:id="rId8"/>
    <p:sldId id="1084" r:id="rId9"/>
    <p:sldId id="1085" r:id="rId10"/>
    <p:sldId id="1086" r:id="rId11"/>
    <p:sldId id="1088" r:id="rId12"/>
    <p:sldId id="1087" r:id="rId13"/>
    <p:sldId id="1078" r:id="rId14"/>
    <p:sldId id="1090" r:id="rId15"/>
    <p:sldId id="1091" r:id="rId16"/>
    <p:sldId id="1089" r:id="rId17"/>
    <p:sldId id="10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061" autoAdjust="0"/>
  </p:normalViewPr>
  <p:slideViewPr>
    <p:cSldViewPr snapToGrid="0">
      <p:cViewPr>
        <p:scale>
          <a:sx n="66" d="100"/>
          <a:sy n="66" d="100"/>
        </p:scale>
        <p:origin x="360" y="30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2755C2-5A74-494E-8BEA-71C357CAF10F}" type="datetimeFigureOut">
              <a:rPr lang="en-IN" smtClean="0"/>
              <a:pPr/>
              <a:t>14-08-2024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DEC57-2385-4CDC-A4DE-C9C271DE400B}" type="slidenum">
              <a:rPr lang="en-IN" smtClean="0"/>
              <a:pPr/>
              <a:t>‹#›</a:t>
            </a:fld>
            <a:endParaRPr lang="en-IN"/>
          </a:p>
        </p:txBody>
      </p:sp>
    </p:spTree>
    <p:extLst>
      <p:ext uri="{BB962C8B-B14F-4D97-AF65-F5344CB8AC3E}">
        <p14:creationId xmlns:p14="http://schemas.microsoft.com/office/powerpoint/2010/main" val="2917975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3</a:t>
            </a:fld>
            <a:endParaRPr lang="en-US"/>
          </a:p>
        </p:txBody>
      </p:sp>
    </p:spTree>
    <p:extLst>
      <p:ext uri="{BB962C8B-B14F-4D97-AF65-F5344CB8AC3E}">
        <p14:creationId xmlns:p14="http://schemas.microsoft.com/office/powerpoint/2010/main" val="2399172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4</a:t>
            </a:fld>
            <a:endParaRPr lang="en-US"/>
          </a:p>
        </p:txBody>
      </p:sp>
    </p:spTree>
    <p:extLst>
      <p:ext uri="{BB962C8B-B14F-4D97-AF65-F5344CB8AC3E}">
        <p14:creationId xmlns:p14="http://schemas.microsoft.com/office/powerpoint/2010/main" val="691062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5</a:t>
            </a:fld>
            <a:endParaRPr lang="en-US"/>
          </a:p>
        </p:txBody>
      </p:sp>
    </p:spTree>
    <p:extLst>
      <p:ext uri="{BB962C8B-B14F-4D97-AF65-F5344CB8AC3E}">
        <p14:creationId xmlns:p14="http://schemas.microsoft.com/office/powerpoint/2010/main" val="2137053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6</a:t>
            </a:fld>
            <a:endParaRPr lang="en-US"/>
          </a:p>
        </p:txBody>
      </p:sp>
    </p:spTree>
    <p:extLst>
      <p:ext uri="{BB962C8B-B14F-4D97-AF65-F5344CB8AC3E}">
        <p14:creationId xmlns:p14="http://schemas.microsoft.com/office/powerpoint/2010/main" val="3786469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7</a:t>
            </a:fld>
            <a:endParaRPr lang="en-US"/>
          </a:p>
        </p:txBody>
      </p:sp>
    </p:spTree>
    <p:extLst>
      <p:ext uri="{BB962C8B-B14F-4D97-AF65-F5344CB8AC3E}">
        <p14:creationId xmlns:p14="http://schemas.microsoft.com/office/powerpoint/2010/main" val="3971733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8</a:t>
            </a:fld>
            <a:endParaRPr lang="en-US"/>
          </a:p>
        </p:txBody>
      </p:sp>
    </p:spTree>
    <p:extLst>
      <p:ext uri="{BB962C8B-B14F-4D97-AF65-F5344CB8AC3E}">
        <p14:creationId xmlns:p14="http://schemas.microsoft.com/office/powerpoint/2010/main" val="408893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9</a:t>
            </a:fld>
            <a:endParaRPr lang="en-US"/>
          </a:p>
        </p:txBody>
      </p:sp>
    </p:spTree>
    <p:extLst>
      <p:ext uri="{BB962C8B-B14F-4D97-AF65-F5344CB8AC3E}">
        <p14:creationId xmlns:p14="http://schemas.microsoft.com/office/powerpoint/2010/main" val="2565293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10</a:t>
            </a:fld>
            <a:endParaRPr lang="en-US"/>
          </a:p>
        </p:txBody>
      </p:sp>
    </p:spTree>
    <p:extLst>
      <p:ext uri="{BB962C8B-B14F-4D97-AF65-F5344CB8AC3E}">
        <p14:creationId xmlns:p14="http://schemas.microsoft.com/office/powerpoint/2010/main" val="2295038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11</a:t>
            </a:fld>
            <a:endParaRPr lang="en-US"/>
          </a:p>
        </p:txBody>
      </p:sp>
    </p:spTree>
    <p:extLst>
      <p:ext uri="{BB962C8B-B14F-4D97-AF65-F5344CB8AC3E}">
        <p14:creationId xmlns:p14="http://schemas.microsoft.com/office/powerpoint/2010/main" val="162315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12</a:t>
            </a:fld>
            <a:endParaRPr lang="en-US"/>
          </a:p>
        </p:txBody>
      </p:sp>
    </p:spTree>
    <p:extLst>
      <p:ext uri="{BB962C8B-B14F-4D97-AF65-F5344CB8AC3E}">
        <p14:creationId xmlns:p14="http://schemas.microsoft.com/office/powerpoint/2010/main" val="2788897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48CD36AA-5890-4FFD-BDEE-CD7E005E79A8}" type="slidenum">
              <a:rPr lang="en-US" smtClean="0"/>
              <a:pPr/>
              <a:t>13</a:t>
            </a:fld>
            <a:endParaRPr lang="en-US"/>
          </a:p>
        </p:txBody>
      </p:sp>
    </p:spTree>
    <p:extLst>
      <p:ext uri="{BB962C8B-B14F-4D97-AF65-F5344CB8AC3E}">
        <p14:creationId xmlns:p14="http://schemas.microsoft.com/office/powerpoint/2010/main" val="18428265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36012D8-7589-4D38-7974-A74E201AACE2}"/>
              </a:ext>
            </a:extLst>
          </p:cNvPr>
          <p:cNvCxnSpPr/>
          <p:nvPr userDrawn="1"/>
        </p:nvCxnSpPr>
        <p:spPr>
          <a:xfrm>
            <a:off x="0" y="1042992"/>
            <a:ext cx="12192000" cy="0"/>
          </a:xfrm>
          <a:prstGeom prst="line">
            <a:avLst/>
          </a:prstGeom>
          <a:ln w="57150">
            <a:solidFill>
              <a:srgbClr val="0070C0"/>
            </a:solidFill>
          </a:ln>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A927A404-03B7-8FE1-101F-C078D50748ED}"/>
              </a:ext>
            </a:extLst>
          </p:cNvPr>
          <p:cNvCxnSpPr/>
          <p:nvPr userDrawn="1"/>
        </p:nvCxnSpPr>
        <p:spPr>
          <a:xfrm>
            <a:off x="0" y="1042973"/>
            <a:ext cx="427196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13" name="Picture 12" descr="Logo, company name&#10;&#10;Description automatically generated">
            <a:extLst>
              <a:ext uri="{FF2B5EF4-FFF2-40B4-BE49-F238E27FC236}">
                <a16:creationId xmlns:a16="http://schemas.microsoft.com/office/drawing/2014/main" id="{F0AE447E-2C80-16CC-2536-0C15D67A1F5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414" t="26042" r="22859" b="28750"/>
          <a:stretch/>
        </p:blipFill>
        <p:spPr>
          <a:xfrm>
            <a:off x="116680" y="0"/>
            <a:ext cx="1212055" cy="1019441"/>
          </a:xfrm>
          <a:prstGeom prst="rect">
            <a:avLst/>
          </a:prstGeom>
        </p:spPr>
      </p:pic>
      <p:pic>
        <p:nvPicPr>
          <p:cNvPr id="14" name="Picture 7" descr="C:\Users\HOME\Downloads\cvmunic.png">
            <a:extLst>
              <a:ext uri="{FF2B5EF4-FFF2-40B4-BE49-F238E27FC236}">
                <a16:creationId xmlns:a16="http://schemas.microsoft.com/office/drawing/2014/main" id="{B38A5BEE-521B-0675-64CE-3F6868FEF66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22445" t="14345" r="19476" b="14359"/>
          <a:stretch/>
        </p:blipFill>
        <p:spPr bwMode="auto">
          <a:xfrm>
            <a:off x="11169508" y="13601"/>
            <a:ext cx="905812" cy="10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077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A1A9D-8237-4E61-94E3-1643280D1D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0910D7-DB61-40A6-8CD1-FF1168A11D0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680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F1C9-F683-4E5E-BA00-CCC7D8BCB13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319CFB-4041-46DD-899B-83AAAF10F3F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403851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9744-C5EB-4B58-BB83-FCB4B6EDEC5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C662A-B3F4-4676-B55A-5DE99958E011}"/>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3F1D08-FBB0-42B5-886D-68CD9EFA77C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1081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D29B-467A-40CC-8A8C-CF27FC7DF3B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1FF173-ABBE-4FA7-BF6C-E6C24D5F70A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1C3FBF-097B-4FCD-97B8-3AEDDDAED38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8F7D4A-709E-40F1-894E-09114D939E91}"/>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20DF54-C5D8-4EB8-9A02-34EC289BF48F}"/>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04133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1B3C-312A-4708-9A8B-38ED634905D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46168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061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A0AD-573F-4F74-B240-134610708CC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644777E-405D-4937-BA2B-F171EC7471A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9347CC-7D6B-4201-9060-9C8F92E73E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357716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B800-ED14-4648-A266-598A0A7EBE0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578513-DCDF-4A6D-AED4-F930BE074E6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A07F71F-1C9B-4B22-BED9-37E626F3FE2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32190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870F-B0CD-4266-832A-0CF2D526C77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5C26B8-95CB-4BAC-BA93-87CEB0F63C3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34637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C723B3-B53A-4ADC-900C-2FE661C7DCD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62BD8C-8DC8-47E2-901E-6AFACD7252E8}"/>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81304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5E6C59D-9DCB-6E47-7F47-DF3FE60B173E}"/>
              </a:ext>
            </a:extLst>
          </p:cNvPr>
          <p:cNvCxnSpPr/>
          <p:nvPr userDrawn="1"/>
        </p:nvCxnSpPr>
        <p:spPr>
          <a:xfrm>
            <a:off x="0" y="1042992"/>
            <a:ext cx="12192000" cy="0"/>
          </a:xfrm>
          <a:prstGeom prst="line">
            <a:avLst/>
          </a:prstGeom>
          <a:ln w="57150">
            <a:solidFill>
              <a:srgbClr val="0070C0"/>
            </a:solidFill>
          </a:ln>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10ADB168-2B67-2980-BA4E-CA69A2F7E66D}"/>
              </a:ext>
            </a:extLst>
          </p:cNvPr>
          <p:cNvCxnSpPr/>
          <p:nvPr userDrawn="1"/>
        </p:nvCxnSpPr>
        <p:spPr>
          <a:xfrm>
            <a:off x="0" y="1042973"/>
            <a:ext cx="427196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9" name="Picture 8" descr="Logo, company name&#10;&#10;Description automatically generated">
            <a:extLst>
              <a:ext uri="{FF2B5EF4-FFF2-40B4-BE49-F238E27FC236}">
                <a16:creationId xmlns:a16="http://schemas.microsoft.com/office/drawing/2014/main" id="{3864212A-B8F7-49F3-04AF-7A8BE2DB9789}"/>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23414" t="26042" r="22859" b="28750"/>
          <a:stretch/>
        </p:blipFill>
        <p:spPr>
          <a:xfrm>
            <a:off x="116680" y="0"/>
            <a:ext cx="1212055" cy="1019441"/>
          </a:xfrm>
          <a:prstGeom prst="rect">
            <a:avLst/>
          </a:prstGeom>
        </p:spPr>
      </p:pic>
      <p:pic>
        <p:nvPicPr>
          <p:cNvPr id="10" name="Picture 7" descr="C:\Users\HOME\Downloads\cvmunic.png">
            <a:extLst>
              <a:ext uri="{FF2B5EF4-FFF2-40B4-BE49-F238E27FC236}">
                <a16:creationId xmlns:a16="http://schemas.microsoft.com/office/drawing/2014/main" id="{197C3C50-956A-7002-0481-007071497341}"/>
              </a:ext>
            </a:extLst>
          </p:cNvPr>
          <p:cNvPicPr>
            <a:picLocks noChangeAspect="1" noChangeArrowheads="1"/>
          </p:cNvPicPr>
          <p:nvPr userDrawn="1"/>
        </p:nvPicPr>
        <p:blipFill rotWithShape="1">
          <a:blip r:embed="rId15">
            <a:extLst>
              <a:ext uri="{28A0092B-C50C-407E-A947-70E740481C1C}">
                <a14:useLocalDpi xmlns:a14="http://schemas.microsoft.com/office/drawing/2010/main" val="0"/>
              </a:ext>
            </a:extLst>
          </a:blip>
          <a:srcRect l="22445" t="14345" r="19476" b="14359"/>
          <a:stretch/>
        </p:blipFill>
        <p:spPr bwMode="auto">
          <a:xfrm>
            <a:off x="11169508" y="13601"/>
            <a:ext cx="905812" cy="10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7338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AA398FDA-FF22-4A4C-BBB6-949867B314D7}"/>
              </a:ext>
            </a:extLst>
          </p:cNvPr>
          <p:cNvSpPr txBox="1">
            <a:spLocks noChangeArrowheads="1"/>
          </p:cNvSpPr>
          <p:nvPr/>
        </p:nvSpPr>
        <p:spPr bwMode="auto">
          <a:xfrm>
            <a:off x="99391" y="3245198"/>
            <a:ext cx="6579705" cy="1877437"/>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800" b="1" dirty="0">
                <a:solidFill>
                  <a:srgbClr val="C00000"/>
                </a:solidFill>
                <a:latin typeface="Cambria" panose="02040503050406030204" pitchFamily="18" charset="0"/>
              </a:rPr>
              <a:t>Harshil  Patel (12202040501026)</a:t>
            </a:r>
          </a:p>
          <a:p>
            <a:pPr algn="ctr" eaLnBrk="1" hangingPunct="1"/>
            <a:r>
              <a:rPr lang="en-US" altLang="en-US" sz="2800" b="1" dirty="0" err="1">
                <a:solidFill>
                  <a:srgbClr val="C00000"/>
                </a:solidFill>
                <a:latin typeface="Cambria" panose="02040503050406030204" pitchFamily="18" charset="0"/>
              </a:rPr>
              <a:t>Krushil</a:t>
            </a:r>
            <a:r>
              <a:rPr lang="en-US" altLang="en-US" sz="2800" b="1" dirty="0">
                <a:solidFill>
                  <a:srgbClr val="C00000"/>
                </a:solidFill>
                <a:latin typeface="Cambria" panose="02040503050406030204" pitchFamily="18" charset="0"/>
              </a:rPr>
              <a:t> Dobariya(12202040501036)</a:t>
            </a:r>
          </a:p>
          <a:p>
            <a:pPr algn="ctr" eaLnBrk="1" hangingPunct="1"/>
            <a:r>
              <a:rPr lang="en-US" altLang="en-US" sz="2000" b="1" dirty="0">
                <a:latin typeface="Cambria" panose="02040503050406030204" pitchFamily="18" charset="0"/>
              </a:rPr>
              <a:t>Department of Computer Engineering </a:t>
            </a:r>
          </a:p>
          <a:p>
            <a:pPr algn="ctr" eaLnBrk="1" hangingPunct="1"/>
            <a:r>
              <a:rPr lang="en-US" altLang="en-US" sz="2000" b="1" dirty="0">
                <a:latin typeface="Cambria" panose="02040503050406030204" pitchFamily="18" charset="0"/>
              </a:rPr>
              <a:t>G H Patel College of Engineering &amp; Technology Vallabh  Vidyanagar (Gujarat)</a:t>
            </a:r>
          </a:p>
        </p:txBody>
      </p:sp>
      <p:sp>
        <p:nvSpPr>
          <p:cNvPr id="6" name="Rectangle 5">
            <a:extLst>
              <a:ext uri="{FF2B5EF4-FFF2-40B4-BE49-F238E27FC236}">
                <a16:creationId xmlns:a16="http://schemas.microsoft.com/office/drawing/2014/main" id="{1872C3D3-9FFD-42B2-3614-D03A1DCC7FDA}"/>
              </a:ext>
            </a:extLst>
          </p:cNvPr>
          <p:cNvSpPr/>
          <p:nvPr/>
        </p:nvSpPr>
        <p:spPr>
          <a:xfrm>
            <a:off x="1714499" y="245726"/>
            <a:ext cx="8763000" cy="461665"/>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spAutoFit/>
          </a:bodyPr>
          <a:lstStyle/>
          <a:p>
            <a:pPr algn="ctr">
              <a:defRPr/>
            </a:pPr>
            <a:r>
              <a:rPr lang="en-US" sz="2400" b="1" dirty="0">
                <a:solidFill>
                  <a:srgbClr val="000000"/>
                </a:solidFill>
                <a:latin typeface="Cambria" panose="02040503050406030204" pitchFamily="18" charset="0"/>
                <a:ea typeface="Cambria" panose="02040503050406030204" pitchFamily="18" charset="0"/>
              </a:rPr>
              <a:t>DESIGN AND ANALYSIS OF ALGORITHMS - 202045601</a:t>
            </a:r>
            <a:endParaRPr lang="en-US" sz="2400" dirty="0">
              <a:latin typeface="Cambria" panose="02040503050406030204" pitchFamily="18" charset="0"/>
              <a:ea typeface="Cambria" panose="02040503050406030204" pitchFamily="18" charset="0"/>
            </a:endParaRPr>
          </a:p>
        </p:txBody>
      </p:sp>
      <p:sp>
        <p:nvSpPr>
          <p:cNvPr id="12" name="Rectangle 11">
            <a:extLst>
              <a:ext uri="{FF2B5EF4-FFF2-40B4-BE49-F238E27FC236}">
                <a16:creationId xmlns:a16="http://schemas.microsoft.com/office/drawing/2014/main" id="{9788D20D-7CD9-97D4-F8F6-A9BB85CDB460}"/>
              </a:ext>
            </a:extLst>
          </p:cNvPr>
          <p:cNvSpPr/>
          <p:nvPr/>
        </p:nvSpPr>
        <p:spPr>
          <a:xfrm>
            <a:off x="1" y="1534894"/>
            <a:ext cx="12191999" cy="1446550"/>
          </a:xfrm>
          <a:prstGeom prst="rect">
            <a:avLst/>
          </a:prstGeom>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eaLnBrk="1" hangingPunct="1">
              <a:defRPr/>
            </a:pPr>
            <a:r>
              <a:rPr lang="en-US" altLang="en-US" sz="4400" b="1" dirty="0">
                <a:solidFill>
                  <a:schemeClr val="bg1"/>
                </a:solidFill>
                <a:latin typeface="Cambria" panose="02040503050406030204" pitchFamily="18" charset="0"/>
                <a:ea typeface="Cambria" panose="02040503050406030204" pitchFamily="18" charset="0"/>
              </a:rPr>
              <a:t>PASSWORD EVALUATER AND ENHANCER USING GREEDY ALGORITHMS</a:t>
            </a:r>
          </a:p>
        </p:txBody>
      </p:sp>
      <p:sp>
        <p:nvSpPr>
          <p:cNvPr id="7" name="TextBox 6">
            <a:extLst>
              <a:ext uri="{FF2B5EF4-FFF2-40B4-BE49-F238E27FC236}">
                <a16:creationId xmlns:a16="http://schemas.microsoft.com/office/drawing/2014/main" id="{3D1D9729-6FD4-A5C8-8F5D-A463A1737387}"/>
              </a:ext>
            </a:extLst>
          </p:cNvPr>
          <p:cNvSpPr txBox="1"/>
          <p:nvPr/>
        </p:nvSpPr>
        <p:spPr>
          <a:xfrm>
            <a:off x="1591436" y="6248163"/>
            <a:ext cx="4123564" cy="369332"/>
          </a:xfrm>
          <a:prstGeom prst="rect">
            <a:avLst/>
          </a:prstGeom>
          <a:noFill/>
        </p:spPr>
        <p:txBody>
          <a:bodyPr wrap="square" rtlCol="0">
            <a:spAutoFit/>
          </a:bodyPr>
          <a:lstStyle/>
          <a:p>
            <a:r>
              <a:rPr lang="en-US" dirty="0"/>
              <a:t>Guided by : Prof. Chaya </a:t>
            </a:r>
            <a:r>
              <a:rPr lang="en-US" dirty="0" err="1"/>
              <a:t>Zala</a:t>
            </a:r>
            <a:endParaRPr lang="en-IN" dirty="0"/>
          </a:p>
        </p:txBody>
      </p:sp>
      <p:pic>
        <p:nvPicPr>
          <p:cNvPr id="2" name="Picture 2" descr="GREEDY ALGORITHM | PrepBytes Blog">
            <a:extLst>
              <a:ext uri="{FF2B5EF4-FFF2-40B4-BE49-F238E27FC236}">
                <a16:creationId xmlns:a16="http://schemas.microsoft.com/office/drawing/2014/main" id="{A52BDF66-6B32-678B-5FC6-B3B93B879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4285" y="3199110"/>
            <a:ext cx="5417715" cy="3049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947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3038007" y="327648"/>
            <a:ext cx="6115986" cy="523220"/>
          </a:xfrm>
          <a:prstGeom prst="rect">
            <a:avLst/>
          </a:prstGeom>
          <a:noFill/>
        </p:spPr>
        <p:txBody>
          <a:bodyPr wrap="square">
            <a:spAutoFit/>
          </a:bodyPr>
          <a:lstStyle/>
          <a:p>
            <a:pPr algn="ctr">
              <a:defRPr/>
            </a:pPr>
            <a:r>
              <a:rPr lang="en-US" sz="2800" b="1" dirty="0">
                <a:solidFill>
                  <a:srgbClr val="002060"/>
                </a:solidFill>
                <a:latin typeface="Cambria" panose="02040503050406030204" pitchFamily="18" charset="0"/>
                <a:ea typeface="Cambria" panose="02040503050406030204" pitchFamily="18" charset="0"/>
              </a:rPr>
              <a:t>Outline</a:t>
            </a:r>
            <a:endParaRPr lang="en-US" sz="2800" dirty="0">
              <a:solidFill>
                <a:srgbClr val="002060"/>
              </a:solidFill>
              <a:latin typeface="Cambria" panose="02040503050406030204" pitchFamily="18" charset="0"/>
              <a:ea typeface="Cambria" panose="02040503050406030204" pitchFamily="18" charset="0"/>
            </a:endParaRP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2</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a:off x="914400" y="1421765"/>
            <a:ext cx="10515600" cy="1325563"/>
          </a:xfrm>
        </p:spPr>
        <p:txBody>
          <a:bodyPr/>
          <a:lstStyle/>
          <a:p>
            <a:endParaRPr lang="en-IN" dirty="0"/>
          </a:p>
        </p:txBody>
      </p:sp>
      <p:sp>
        <p:nvSpPr>
          <p:cNvPr id="7" name="Content Placeholder 6">
            <a:extLst>
              <a:ext uri="{FF2B5EF4-FFF2-40B4-BE49-F238E27FC236}">
                <a16:creationId xmlns:a16="http://schemas.microsoft.com/office/drawing/2014/main" id="{6B086A96-8F24-8F3F-0E37-FE6B670A33E3}"/>
              </a:ext>
            </a:extLst>
          </p:cNvPr>
          <p:cNvSpPr>
            <a:spLocks noGrp="1"/>
          </p:cNvSpPr>
          <p:nvPr>
            <p:ph sz="half" idx="1"/>
          </p:nvPr>
        </p:nvSpPr>
        <p:spPr>
          <a:xfrm>
            <a:off x="838199" y="1825625"/>
            <a:ext cx="9914681" cy="4170061"/>
          </a:xfrm>
        </p:spPr>
        <p:txBody>
          <a:bodyPr/>
          <a:lstStyle/>
          <a:p>
            <a:r>
              <a:rPr lang="en-IN" b="1" i="0" dirty="0">
                <a:effectLst/>
              </a:rPr>
              <a:t>What is Greedy Algorithm</a:t>
            </a:r>
            <a:r>
              <a:rPr lang="en-IN" b="1" i="0" dirty="0">
                <a:solidFill>
                  <a:schemeClr val="tx1">
                    <a:lumMod val="95000"/>
                    <a:lumOff val="5000"/>
                  </a:schemeClr>
                </a:solidFill>
                <a:effectLst/>
              </a:rPr>
              <a:t> </a:t>
            </a:r>
          </a:p>
          <a:p>
            <a:r>
              <a:rPr lang="en-US" b="1" i="0" dirty="0">
                <a:effectLst/>
              </a:rPr>
              <a:t>Key Points to understand about Greedy Algorithm</a:t>
            </a:r>
          </a:p>
          <a:p>
            <a:r>
              <a:rPr lang="en-IN" b="1" i="0" dirty="0">
                <a:effectLst/>
              </a:rPr>
              <a:t>Components of Greedy Algorithm</a:t>
            </a:r>
            <a:endParaRPr lang="en-US" b="1" dirty="0">
              <a:solidFill>
                <a:srgbClr val="374151"/>
              </a:solidFill>
            </a:endParaRPr>
          </a:p>
          <a:p>
            <a:r>
              <a:rPr lang="en-IN" b="1" i="0" dirty="0">
                <a:effectLst/>
              </a:rPr>
              <a:t>Types of Greedy Algorithm</a:t>
            </a:r>
          </a:p>
          <a:p>
            <a:r>
              <a:rPr lang="en-IN" b="1" i="0" dirty="0">
                <a:effectLst/>
              </a:rPr>
              <a:t>Applications of Greedy Algorithm</a:t>
            </a:r>
          </a:p>
          <a:p>
            <a:r>
              <a:rPr lang="en-US" b="1" i="0" dirty="0">
                <a:effectLst/>
              </a:rPr>
              <a:t>Password Evaluator and Enhancer using Greedy Algorithms</a:t>
            </a:r>
          </a:p>
          <a:p>
            <a:r>
              <a:rPr lang="en-US" b="1" i="0" dirty="0">
                <a:effectLst/>
              </a:rPr>
              <a:t>Greedy Approach in Password Strength Enhancer</a:t>
            </a:r>
            <a:endParaRPr lang="en-US" b="1" dirty="0"/>
          </a:p>
          <a:p>
            <a:r>
              <a:rPr lang="en-IN" b="1" i="0" dirty="0">
                <a:effectLst/>
              </a:rPr>
              <a:t>Conclusion</a:t>
            </a:r>
          </a:p>
        </p:txBody>
      </p:sp>
      <p:sp>
        <p:nvSpPr>
          <p:cNvPr id="8" name="Content Placeholder 7">
            <a:extLst>
              <a:ext uri="{FF2B5EF4-FFF2-40B4-BE49-F238E27FC236}">
                <a16:creationId xmlns:a16="http://schemas.microsoft.com/office/drawing/2014/main" id="{682E6BB3-2E0A-B3D0-37B0-65EBBDAE47A7}"/>
              </a:ext>
            </a:extLst>
          </p:cNvPr>
          <p:cNvSpPr>
            <a:spLocks noGrp="1"/>
          </p:cNvSpPr>
          <p:nvPr>
            <p:ph sz="half" idx="2"/>
          </p:nvPr>
        </p:nvSpPr>
        <p:spPr/>
        <p:txBody>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3038007" y="317504"/>
            <a:ext cx="6115986" cy="523220"/>
          </a:xfrm>
          <a:prstGeom prst="rect">
            <a:avLst/>
          </a:prstGeom>
          <a:noFill/>
        </p:spPr>
        <p:txBody>
          <a:bodyPr wrap="square">
            <a:spAutoFit/>
          </a:bodyPr>
          <a:lstStyle/>
          <a:p>
            <a:pPr algn="ctr">
              <a:defRPr/>
            </a:pPr>
            <a:r>
              <a:rPr lang="en-US" sz="2800" b="1" dirty="0">
                <a:solidFill>
                  <a:srgbClr val="002060"/>
                </a:solidFill>
                <a:latin typeface="Cambria" panose="02040503050406030204" pitchFamily="18" charset="0"/>
                <a:ea typeface="Cambria" panose="02040503050406030204" pitchFamily="18" charset="0"/>
              </a:rPr>
              <a:t>What is Greedy Algorithm </a:t>
            </a:r>
            <a:endParaRPr lang="en-US" sz="2800" dirty="0">
              <a:solidFill>
                <a:srgbClr val="002060"/>
              </a:solidFill>
              <a:latin typeface="Cambria" panose="02040503050406030204" pitchFamily="18" charset="0"/>
              <a:ea typeface="Cambria" panose="02040503050406030204" pitchFamily="18" charset="0"/>
            </a:endParaRP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3</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6B086A96-8F24-8F3F-0E37-FE6B670A33E3}"/>
              </a:ext>
            </a:extLst>
          </p:cNvPr>
          <p:cNvSpPr>
            <a:spLocks noGrp="1"/>
          </p:cNvSpPr>
          <p:nvPr>
            <p:ph sz="half" idx="1"/>
          </p:nvPr>
        </p:nvSpPr>
        <p:spPr>
          <a:xfrm>
            <a:off x="838200" y="1302405"/>
            <a:ext cx="9926782" cy="653617"/>
          </a:xfrm>
        </p:spPr>
        <p:txBody>
          <a:bodyPr/>
          <a:lstStyle/>
          <a:p>
            <a:pPr algn="just"/>
            <a:r>
              <a:rPr lang="en-US" dirty="0"/>
              <a:t>A greedy algorithm is an approach to problem-solving that follows the "greedy-choice property" at each step. </a:t>
            </a:r>
          </a:p>
          <a:p>
            <a:pPr algn="just"/>
            <a:r>
              <a:rPr lang="en-US" dirty="0"/>
              <a:t> It makes the locally optimal choice at each stage with the hope of eventually reaching a globally optimal solution. </a:t>
            </a:r>
          </a:p>
          <a:p>
            <a:pPr algn="just"/>
            <a:r>
              <a:rPr lang="en-US" dirty="0"/>
              <a:t>This means that, at every decision point, the algorithm chooses the best available option without considering the consequences of that choice on future decisions. </a:t>
            </a:r>
          </a:p>
          <a:p>
            <a:pPr algn="just"/>
            <a:r>
              <a:rPr lang="en-US" dirty="0"/>
              <a:t>The expectation is that the cumulative effect of these local optimums will lead to an overall optimal solution. </a:t>
            </a:r>
            <a:endParaRPr lang="en-IN" dirty="0">
              <a:ea typeface="Cambria" panose="02040503050406030204" pitchFamily="18" charset="0"/>
            </a:endParaRPr>
          </a:p>
        </p:txBody>
      </p:sp>
      <p:sp>
        <p:nvSpPr>
          <p:cNvPr id="8" name="Content Placeholder 7">
            <a:extLst>
              <a:ext uri="{FF2B5EF4-FFF2-40B4-BE49-F238E27FC236}">
                <a16:creationId xmlns:a16="http://schemas.microsoft.com/office/drawing/2014/main" id="{0F18DF70-3FB6-C7B4-D65C-BCF6D1471D9B}"/>
              </a:ext>
            </a:extLst>
          </p:cNvPr>
          <p:cNvSpPr>
            <a:spLocks noGrp="1"/>
          </p:cNvSpPr>
          <p:nvPr>
            <p:ph sz="half" idx="2"/>
          </p:nvPr>
        </p:nvSpPr>
        <p:spPr>
          <a:xfrm>
            <a:off x="10525538" y="6131243"/>
            <a:ext cx="828261" cy="45719"/>
          </a:xfrm>
        </p:spPr>
        <p:txBody>
          <a:bodyPr/>
          <a:lstStyle/>
          <a:p>
            <a:endParaRPr lang="en-IN" dirty="0"/>
          </a:p>
        </p:txBody>
      </p:sp>
    </p:spTree>
    <p:extLst>
      <p:ext uri="{BB962C8B-B14F-4D97-AF65-F5344CB8AC3E}">
        <p14:creationId xmlns:p14="http://schemas.microsoft.com/office/powerpoint/2010/main" val="544317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854283" y="366780"/>
            <a:ext cx="8483433" cy="523220"/>
          </a:xfrm>
          <a:prstGeom prst="rect">
            <a:avLst/>
          </a:prstGeom>
          <a:noFill/>
        </p:spPr>
        <p:txBody>
          <a:bodyPr wrap="square">
            <a:spAutoFit/>
          </a:bodyPr>
          <a:lstStyle/>
          <a:p>
            <a:pPr algn="ctr">
              <a:defRPr/>
            </a:pPr>
            <a:r>
              <a:rPr lang="en-US" sz="2800" b="1" dirty="0">
                <a:solidFill>
                  <a:srgbClr val="002060"/>
                </a:solidFill>
                <a:latin typeface="Cambria" panose="02040503050406030204" pitchFamily="18" charset="0"/>
                <a:ea typeface="Cambria" panose="02040503050406030204" pitchFamily="18" charset="0"/>
              </a:rPr>
              <a:t>Key Points to understand about greedy algorithm</a:t>
            </a:r>
            <a:endParaRPr lang="en-US" sz="2800" dirty="0">
              <a:solidFill>
                <a:srgbClr val="002060"/>
              </a:solidFill>
              <a:latin typeface="Cambria" panose="02040503050406030204" pitchFamily="18" charset="0"/>
              <a:ea typeface="Cambria" panose="02040503050406030204" pitchFamily="18" charset="0"/>
            </a:endParaRP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4</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6B086A96-8F24-8F3F-0E37-FE6B670A33E3}"/>
              </a:ext>
            </a:extLst>
          </p:cNvPr>
          <p:cNvSpPr>
            <a:spLocks noGrp="1"/>
          </p:cNvSpPr>
          <p:nvPr>
            <p:ph sz="half" idx="1"/>
          </p:nvPr>
        </p:nvSpPr>
        <p:spPr>
          <a:xfrm>
            <a:off x="147205" y="1225040"/>
            <a:ext cx="11897590" cy="5297920"/>
          </a:xfrm>
        </p:spPr>
        <p:txBody>
          <a:bodyPr/>
          <a:lstStyle/>
          <a:p>
            <a:pPr algn="just">
              <a:buFont typeface="Wingdings" panose="05000000000000000000" pitchFamily="2" charset="2"/>
              <a:buChar char="q"/>
            </a:pPr>
            <a:r>
              <a:rPr lang="en-US" b="1" dirty="0">
                <a:solidFill>
                  <a:srgbClr val="FF0000"/>
                </a:solidFill>
              </a:rPr>
              <a:t>Greedy-choice Property: </a:t>
            </a:r>
          </a:p>
          <a:p>
            <a:pPr lvl="1" algn="just"/>
            <a:r>
              <a:rPr lang="en-US" dirty="0"/>
              <a:t>The heart of a greedy algorithm lies in its greedy-choice property. </a:t>
            </a:r>
          </a:p>
          <a:p>
            <a:pPr lvl="1" algn="just"/>
            <a:r>
              <a:rPr lang="en-US" dirty="0"/>
              <a:t>At each step, it makes the choice that seems best at that moment, without worrying about what might happen in the future. </a:t>
            </a:r>
          </a:p>
          <a:p>
            <a:pPr lvl="1" algn="just"/>
            <a:r>
              <a:rPr lang="en-US" dirty="0"/>
              <a:t>This myopic decision-making is what characterizes the approach. </a:t>
            </a:r>
          </a:p>
          <a:p>
            <a:pPr marL="457200" lvl="1" indent="0" algn="just">
              <a:buNone/>
            </a:pPr>
            <a:endParaRPr lang="en-US" dirty="0"/>
          </a:p>
          <a:p>
            <a:pPr algn="just">
              <a:buFont typeface="Wingdings" panose="05000000000000000000" pitchFamily="2" charset="2"/>
              <a:buChar char="q"/>
            </a:pPr>
            <a:r>
              <a:rPr lang="en-US" b="1" dirty="0">
                <a:solidFill>
                  <a:srgbClr val="FF0000"/>
                </a:solidFill>
              </a:rPr>
              <a:t>Optimization Problems: </a:t>
            </a:r>
          </a:p>
          <a:p>
            <a:pPr lvl="1" algn="just"/>
            <a:r>
              <a:rPr lang="en-US" dirty="0"/>
              <a:t>Greedy algorithms are commonly used for optimization problems where the goal is to find the best solution from a set of feasible solutions. </a:t>
            </a:r>
          </a:p>
          <a:p>
            <a:pPr lvl="1" algn="just"/>
            <a:r>
              <a:rPr lang="en-US" dirty="0"/>
              <a:t>These problems often involve maximizing or minimizing some objective function. </a:t>
            </a:r>
            <a:endParaRPr lang="en-IN" dirty="0">
              <a:ea typeface="Cambria" panose="02040503050406030204" pitchFamily="18" charset="0"/>
            </a:endParaRPr>
          </a:p>
        </p:txBody>
      </p:sp>
      <p:sp>
        <p:nvSpPr>
          <p:cNvPr id="8" name="Content Placeholder 7">
            <a:extLst>
              <a:ext uri="{FF2B5EF4-FFF2-40B4-BE49-F238E27FC236}">
                <a16:creationId xmlns:a16="http://schemas.microsoft.com/office/drawing/2014/main" id="{9ED79A1D-2AC6-BBB1-FE13-4026A20B3E50}"/>
              </a:ext>
            </a:extLst>
          </p:cNvPr>
          <p:cNvSpPr>
            <a:spLocks noGrp="1"/>
          </p:cNvSpPr>
          <p:nvPr>
            <p:ph sz="half" idx="2"/>
          </p:nvPr>
        </p:nvSpPr>
        <p:spPr>
          <a:xfrm>
            <a:off x="10370127" y="1080653"/>
            <a:ext cx="5181600" cy="1054245"/>
          </a:xfrm>
        </p:spPr>
        <p:txBody>
          <a:bodyPr/>
          <a:lstStyle/>
          <a:p>
            <a:endParaRPr lang="en-IN" dirty="0"/>
          </a:p>
        </p:txBody>
      </p:sp>
    </p:spTree>
    <p:extLst>
      <p:ext uri="{BB962C8B-B14F-4D97-AF65-F5344CB8AC3E}">
        <p14:creationId xmlns:p14="http://schemas.microsoft.com/office/powerpoint/2010/main" val="2250715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854283" y="366780"/>
            <a:ext cx="8483433" cy="523220"/>
          </a:xfrm>
          <a:prstGeom prst="rect">
            <a:avLst/>
          </a:prstGeom>
          <a:noFill/>
        </p:spPr>
        <p:txBody>
          <a:bodyPr wrap="square">
            <a:spAutoFit/>
          </a:bodyPr>
          <a:lstStyle/>
          <a:p>
            <a:pPr algn="ctr">
              <a:defRPr/>
            </a:pPr>
            <a:r>
              <a:rPr lang="en-US" sz="2800" b="1" dirty="0">
                <a:solidFill>
                  <a:srgbClr val="002060"/>
                </a:solidFill>
                <a:latin typeface="Cambria" panose="02040503050406030204" pitchFamily="18" charset="0"/>
                <a:ea typeface="Cambria" panose="02040503050406030204" pitchFamily="18" charset="0"/>
              </a:rPr>
              <a:t>Components of Greedy Algorithm</a:t>
            </a:r>
            <a:endParaRPr lang="en-US" sz="2800" dirty="0">
              <a:solidFill>
                <a:srgbClr val="002060"/>
              </a:solidFill>
              <a:latin typeface="Cambria" panose="02040503050406030204" pitchFamily="18" charset="0"/>
              <a:ea typeface="Cambria" panose="02040503050406030204" pitchFamily="18" charset="0"/>
            </a:endParaRP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5</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6B086A96-8F24-8F3F-0E37-FE6B670A33E3}"/>
              </a:ext>
            </a:extLst>
          </p:cNvPr>
          <p:cNvSpPr>
            <a:spLocks noGrp="1"/>
          </p:cNvSpPr>
          <p:nvPr>
            <p:ph sz="half" idx="1"/>
          </p:nvPr>
        </p:nvSpPr>
        <p:spPr>
          <a:xfrm>
            <a:off x="147205" y="1225040"/>
            <a:ext cx="11897590" cy="5297920"/>
          </a:xfrm>
        </p:spPr>
        <p:txBody>
          <a:bodyPr/>
          <a:lstStyle/>
          <a:p>
            <a:pPr marL="514350" indent="-514350" algn="just">
              <a:buFont typeface="+mj-lt"/>
              <a:buAutoNum type="arabicPeriod"/>
            </a:pPr>
            <a:r>
              <a:rPr lang="en-US" b="1" dirty="0">
                <a:solidFill>
                  <a:srgbClr val="FF0000"/>
                </a:solidFill>
              </a:rPr>
              <a:t>Candidate set: </a:t>
            </a:r>
          </a:p>
          <a:p>
            <a:pPr marL="457200" lvl="1" indent="0" algn="just">
              <a:buNone/>
            </a:pPr>
            <a:r>
              <a:rPr lang="en-US" dirty="0"/>
              <a:t>A solution that is created from the set is known as a candidate set. </a:t>
            </a:r>
          </a:p>
          <a:p>
            <a:pPr marL="514350" indent="-514350" algn="just">
              <a:buFont typeface="+mj-lt"/>
              <a:buAutoNum type="arabicPeriod"/>
            </a:pPr>
            <a:r>
              <a:rPr lang="en-US" b="1" dirty="0">
                <a:solidFill>
                  <a:srgbClr val="FF0000"/>
                </a:solidFill>
              </a:rPr>
              <a:t>Selection function: </a:t>
            </a:r>
          </a:p>
          <a:p>
            <a:pPr marL="457200" lvl="1" indent="0" algn="just">
              <a:buNone/>
            </a:pPr>
            <a:r>
              <a:rPr lang="en-US" dirty="0"/>
              <a:t>This function is used to choose the candidate or subset which can be added in the solution. </a:t>
            </a:r>
          </a:p>
          <a:p>
            <a:pPr marL="514350" indent="-514350" algn="just">
              <a:buFont typeface="+mj-lt"/>
              <a:buAutoNum type="arabicPeriod"/>
            </a:pPr>
            <a:r>
              <a:rPr lang="en-US" b="1" dirty="0">
                <a:solidFill>
                  <a:srgbClr val="FF0000"/>
                </a:solidFill>
              </a:rPr>
              <a:t>Feasibility function: </a:t>
            </a:r>
          </a:p>
          <a:p>
            <a:pPr marL="457200" lvl="1" indent="0" algn="just">
              <a:buNone/>
            </a:pPr>
            <a:r>
              <a:rPr lang="en-US" dirty="0"/>
              <a:t>A function that is used to determine whether the candidate or subset can be used to contribute to the solution or not. </a:t>
            </a:r>
          </a:p>
          <a:p>
            <a:pPr marL="514350" indent="-514350" algn="just">
              <a:buFont typeface="+mj-lt"/>
              <a:buAutoNum type="arabicPeriod"/>
            </a:pPr>
            <a:r>
              <a:rPr lang="en-US" b="1" dirty="0">
                <a:solidFill>
                  <a:srgbClr val="FF0000"/>
                </a:solidFill>
              </a:rPr>
              <a:t>Objective function: </a:t>
            </a:r>
          </a:p>
          <a:p>
            <a:pPr marL="457200" lvl="1" indent="0" algn="just">
              <a:buNone/>
            </a:pPr>
            <a:r>
              <a:rPr lang="en-US" dirty="0"/>
              <a:t>A function is used to assign the value to the solution or the partial solution. </a:t>
            </a:r>
          </a:p>
          <a:p>
            <a:pPr marL="514350" indent="-514350" algn="just">
              <a:buFont typeface="+mj-lt"/>
              <a:buAutoNum type="arabicPeriod"/>
            </a:pPr>
            <a:r>
              <a:rPr lang="en-US" b="1" dirty="0">
                <a:solidFill>
                  <a:srgbClr val="FF0000"/>
                </a:solidFill>
              </a:rPr>
              <a:t>Solution function: </a:t>
            </a:r>
          </a:p>
          <a:p>
            <a:pPr marL="457200" lvl="1" indent="0" algn="just">
              <a:buNone/>
            </a:pPr>
            <a:r>
              <a:rPr lang="en-US" dirty="0"/>
              <a:t>This function is used to intimate whether the complete function has been reached or not. </a:t>
            </a:r>
            <a:endParaRPr lang="en-IN" dirty="0">
              <a:ea typeface="Cambria" panose="02040503050406030204" pitchFamily="18" charset="0"/>
            </a:endParaRPr>
          </a:p>
        </p:txBody>
      </p:sp>
      <p:sp>
        <p:nvSpPr>
          <p:cNvPr id="8" name="Content Placeholder 7">
            <a:extLst>
              <a:ext uri="{FF2B5EF4-FFF2-40B4-BE49-F238E27FC236}">
                <a16:creationId xmlns:a16="http://schemas.microsoft.com/office/drawing/2014/main" id="{9ED79A1D-2AC6-BBB1-FE13-4026A20B3E50}"/>
              </a:ext>
            </a:extLst>
          </p:cNvPr>
          <p:cNvSpPr>
            <a:spLocks noGrp="1"/>
          </p:cNvSpPr>
          <p:nvPr>
            <p:ph sz="half" idx="2"/>
          </p:nvPr>
        </p:nvSpPr>
        <p:spPr>
          <a:xfrm>
            <a:off x="10370127" y="1080653"/>
            <a:ext cx="5181600" cy="1054245"/>
          </a:xfrm>
        </p:spPr>
        <p:txBody>
          <a:bodyPr/>
          <a:lstStyle/>
          <a:p>
            <a:endParaRPr lang="en-IN" dirty="0"/>
          </a:p>
        </p:txBody>
      </p:sp>
    </p:spTree>
    <p:extLst>
      <p:ext uri="{BB962C8B-B14F-4D97-AF65-F5344CB8AC3E}">
        <p14:creationId xmlns:p14="http://schemas.microsoft.com/office/powerpoint/2010/main" val="218667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854283" y="366780"/>
            <a:ext cx="8483433" cy="523220"/>
          </a:xfrm>
          <a:prstGeom prst="rect">
            <a:avLst/>
          </a:prstGeom>
          <a:noFill/>
        </p:spPr>
        <p:txBody>
          <a:bodyPr wrap="square">
            <a:spAutoFit/>
          </a:bodyPr>
          <a:lstStyle/>
          <a:p>
            <a:pPr algn="ctr">
              <a:defRPr/>
            </a:pPr>
            <a:r>
              <a:rPr lang="en-US" sz="2800" b="1" dirty="0">
                <a:solidFill>
                  <a:srgbClr val="002060"/>
                </a:solidFill>
                <a:latin typeface="Cambria" panose="02040503050406030204" pitchFamily="18" charset="0"/>
                <a:ea typeface="Cambria" panose="02040503050406030204" pitchFamily="18" charset="0"/>
              </a:rPr>
              <a:t>Types of Greedy Algorithm</a:t>
            </a:r>
            <a:endParaRPr lang="en-US" sz="2800" dirty="0">
              <a:solidFill>
                <a:srgbClr val="002060"/>
              </a:solidFill>
              <a:latin typeface="Cambria" panose="02040503050406030204" pitchFamily="18" charset="0"/>
              <a:ea typeface="Cambria" panose="02040503050406030204" pitchFamily="18" charset="0"/>
            </a:endParaRP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6</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6B086A96-8F24-8F3F-0E37-FE6B670A33E3}"/>
              </a:ext>
            </a:extLst>
          </p:cNvPr>
          <p:cNvSpPr>
            <a:spLocks noGrp="1"/>
          </p:cNvSpPr>
          <p:nvPr>
            <p:ph sz="half" idx="1"/>
          </p:nvPr>
        </p:nvSpPr>
        <p:spPr>
          <a:xfrm>
            <a:off x="147205" y="1225040"/>
            <a:ext cx="11936765" cy="5297920"/>
          </a:xfrm>
        </p:spPr>
        <p:txBody>
          <a:bodyPr/>
          <a:lstStyle/>
          <a:p>
            <a:pPr algn="just"/>
            <a:r>
              <a:rPr lang="en-US" sz="2400" b="1" dirty="0">
                <a:solidFill>
                  <a:srgbClr val="FF0000"/>
                </a:solidFill>
                <a:ea typeface="Cambria" panose="02040503050406030204" pitchFamily="18" charset="0"/>
              </a:rPr>
              <a:t>Activity Selection Problem: </a:t>
            </a:r>
          </a:p>
          <a:p>
            <a:pPr marL="457200" lvl="1" indent="0" algn="just">
              <a:buNone/>
            </a:pPr>
            <a:r>
              <a:rPr lang="en-US" sz="2200" dirty="0">
                <a:ea typeface="Cambria" panose="02040503050406030204" pitchFamily="18" charset="0"/>
              </a:rPr>
              <a:t>Selects the maximum number of non-overlapping activities from a set of activities, each with a start and end time.</a:t>
            </a:r>
          </a:p>
          <a:p>
            <a:pPr algn="just"/>
            <a:r>
              <a:rPr lang="en-US" sz="2400" b="1" dirty="0">
                <a:solidFill>
                  <a:srgbClr val="FF0000"/>
                </a:solidFill>
                <a:ea typeface="Cambria" panose="02040503050406030204" pitchFamily="18" charset="0"/>
              </a:rPr>
              <a:t>Huffman Coding Problem: </a:t>
            </a:r>
          </a:p>
          <a:p>
            <a:pPr marL="457200" lvl="1" indent="0" algn="just">
              <a:buNone/>
            </a:pPr>
            <a:r>
              <a:rPr lang="en-US" sz="2200" dirty="0">
                <a:ea typeface="Cambria" panose="02040503050406030204" pitchFamily="18" charset="0"/>
              </a:rPr>
              <a:t>Constructs an optimal prefix code for data compression based on the frequencies of each symbol</a:t>
            </a:r>
            <a:r>
              <a:rPr lang="en-US" sz="2000" dirty="0">
                <a:ea typeface="Cambria" panose="02040503050406030204" pitchFamily="18" charset="0"/>
              </a:rPr>
              <a:t>.</a:t>
            </a:r>
          </a:p>
          <a:p>
            <a:pPr algn="just"/>
            <a:r>
              <a:rPr lang="en-US" sz="2400" b="1" dirty="0">
                <a:solidFill>
                  <a:srgbClr val="FF0000"/>
                </a:solidFill>
                <a:ea typeface="Cambria" panose="02040503050406030204" pitchFamily="18" charset="0"/>
              </a:rPr>
              <a:t>Task Scheduling Problem: </a:t>
            </a:r>
          </a:p>
          <a:p>
            <a:pPr marL="457200" lvl="1" indent="0" algn="just">
              <a:buNone/>
            </a:pPr>
            <a:r>
              <a:rPr lang="en-US" sz="2200" dirty="0">
                <a:ea typeface="Cambria" panose="02040503050406030204" pitchFamily="18" charset="0"/>
              </a:rPr>
              <a:t>Schedules tasks on resources (e.g., machines) to minimize completion time or maximize efficiency, given constraints.</a:t>
            </a:r>
          </a:p>
          <a:p>
            <a:pPr algn="just"/>
            <a:r>
              <a:rPr lang="en-US" sz="2400" b="1" dirty="0">
                <a:solidFill>
                  <a:srgbClr val="FF0000"/>
                </a:solidFill>
                <a:ea typeface="Cambria" panose="02040503050406030204" pitchFamily="18" charset="0"/>
              </a:rPr>
              <a:t>Knapsack Problem: </a:t>
            </a:r>
          </a:p>
          <a:p>
            <a:pPr marL="457200" lvl="1" indent="0" algn="just">
              <a:buNone/>
            </a:pPr>
            <a:r>
              <a:rPr lang="en-US" sz="2200" dirty="0">
                <a:ea typeface="Cambria" panose="02040503050406030204" pitchFamily="18" charset="0"/>
              </a:rPr>
              <a:t>Chooses items with given weights and values to maximize the total value without exceeding a weight limit.</a:t>
            </a:r>
          </a:p>
          <a:p>
            <a:pPr algn="just"/>
            <a:r>
              <a:rPr lang="en-US" sz="2400" b="1" dirty="0">
                <a:solidFill>
                  <a:srgbClr val="FF0000"/>
                </a:solidFill>
                <a:ea typeface="Cambria" panose="02040503050406030204" pitchFamily="18" charset="0"/>
              </a:rPr>
              <a:t>Traveling Salesman Problem: </a:t>
            </a:r>
          </a:p>
          <a:p>
            <a:pPr marL="457200" lvl="1" indent="0" algn="just">
              <a:buNone/>
            </a:pPr>
            <a:r>
              <a:rPr lang="en-US" sz="2200" dirty="0">
                <a:ea typeface="Cambria" panose="02040503050406030204" pitchFamily="18" charset="0"/>
              </a:rPr>
              <a:t>Finds the shortest possible route that visits each city exactly once and returns to the origin city.</a:t>
            </a:r>
          </a:p>
          <a:p>
            <a:pPr algn="just"/>
            <a:endParaRPr lang="en-IN" dirty="0">
              <a:ea typeface="Cambria" panose="02040503050406030204" pitchFamily="18" charset="0"/>
            </a:endParaRPr>
          </a:p>
        </p:txBody>
      </p:sp>
      <p:sp>
        <p:nvSpPr>
          <p:cNvPr id="8" name="Content Placeholder 7">
            <a:extLst>
              <a:ext uri="{FF2B5EF4-FFF2-40B4-BE49-F238E27FC236}">
                <a16:creationId xmlns:a16="http://schemas.microsoft.com/office/drawing/2014/main" id="{9ED79A1D-2AC6-BBB1-FE13-4026A20B3E50}"/>
              </a:ext>
            </a:extLst>
          </p:cNvPr>
          <p:cNvSpPr>
            <a:spLocks noGrp="1"/>
          </p:cNvSpPr>
          <p:nvPr>
            <p:ph sz="half" idx="2"/>
          </p:nvPr>
        </p:nvSpPr>
        <p:spPr>
          <a:xfrm>
            <a:off x="10370127" y="1080653"/>
            <a:ext cx="5181600" cy="1054245"/>
          </a:xfrm>
        </p:spPr>
        <p:txBody>
          <a:bodyPr/>
          <a:lstStyle/>
          <a:p>
            <a:endParaRPr lang="en-IN" dirty="0"/>
          </a:p>
        </p:txBody>
      </p:sp>
    </p:spTree>
    <p:extLst>
      <p:ext uri="{BB962C8B-B14F-4D97-AF65-F5344CB8AC3E}">
        <p14:creationId xmlns:p14="http://schemas.microsoft.com/office/powerpoint/2010/main" val="1615214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854283" y="366780"/>
            <a:ext cx="8483433" cy="523220"/>
          </a:xfrm>
          <a:prstGeom prst="rect">
            <a:avLst/>
          </a:prstGeom>
          <a:noFill/>
        </p:spPr>
        <p:txBody>
          <a:bodyPr wrap="square">
            <a:spAutoFit/>
          </a:bodyPr>
          <a:lstStyle/>
          <a:p>
            <a:pPr algn="ctr">
              <a:defRPr/>
            </a:pPr>
            <a:r>
              <a:rPr lang="en-US" sz="2800" b="1" dirty="0">
                <a:solidFill>
                  <a:srgbClr val="002060"/>
                </a:solidFill>
                <a:latin typeface="Cambria" panose="02040503050406030204" pitchFamily="18" charset="0"/>
                <a:ea typeface="Cambria" panose="02040503050406030204" pitchFamily="18" charset="0"/>
              </a:rPr>
              <a:t>Applications of Greedy Algorithm</a:t>
            </a:r>
            <a:endParaRPr lang="en-US" sz="2800" dirty="0">
              <a:solidFill>
                <a:srgbClr val="002060"/>
              </a:solidFill>
              <a:latin typeface="Cambria" panose="02040503050406030204" pitchFamily="18" charset="0"/>
              <a:ea typeface="Cambria" panose="02040503050406030204" pitchFamily="18" charset="0"/>
            </a:endParaRP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7</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6B086A96-8F24-8F3F-0E37-FE6B670A33E3}"/>
              </a:ext>
            </a:extLst>
          </p:cNvPr>
          <p:cNvSpPr>
            <a:spLocks noGrp="1"/>
          </p:cNvSpPr>
          <p:nvPr>
            <p:ph sz="half" idx="1"/>
          </p:nvPr>
        </p:nvSpPr>
        <p:spPr>
          <a:xfrm>
            <a:off x="147205" y="1225040"/>
            <a:ext cx="11936765" cy="5297920"/>
          </a:xfrm>
        </p:spPr>
        <p:txBody>
          <a:bodyPr/>
          <a:lstStyle/>
          <a:p>
            <a:pPr algn="just"/>
            <a:endParaRPr lang="en-US" sz="2400" b="1" dirty="0">
              <a:ea typeface="Cambria" panose="02040503050406030204" pitchFamily="18" charset="0"/>
            </a:endParaRPr>
          </a:p>
          <a:p>
            <a:pPr algn="just"/>
            <a:r>
              <a:rPr lang="en-US" sz="2400" b="1" dirty="0">
                <a:ea typeface="Cambria" panose="02040503050406030204" pitchFamily="18" charset="0"/>
              </a:rPr>
              <a:t>It is used in finding the shortest path. </a:t>
            </a:r>
          </a:p>
          <a:p>
            <a:pPr algn="just"/>
            <a:r>
              <a:rPr lang="en-US" sz="2400" b="1" dirty="0">
                <a:ea typeface="Cambria" panose="02040503050406030204" pitchFamily="18" charset="0"/>
              </a:rPr>
              <a:t>It is used to find the minimum spanning tree using the prim's algorithm </a:t>
            </a:r>
          </a:p>
          <a:p>
            <a:pPr algn="just"/>
            <a:r>
              <a:rPr lang="en-US" sz="2400" b="1" dirty="0">
                <a:ea typeface="Cambria" panose="02040503050406030204" pitchFamily="18" charset="0"/>
              </a:rPr>
              <a:t>or the Kruskal's algorithm. </a:t>
            </a:r>
          </a:p>
          <a:p>
            <a:pPr algn="just"/>
            <a:r>
              <a:rPr lang="en-US" sz="2400" b="1" dirty="0">
                <a:ea typeface="Cambria" panose="02040503050406030204" pitchFamily="18" charset="0"/>
              </a:rPr>
              <a:t>It is used in a job sequencing with a deadline. </a:t>
            </a:r>
          </a:p>
          <a:p>
            <a:pPr algn="just"/>
            <a:r>
              <a:rPr lang="en-US" sz="2400" b="1" dirty="0">
                <a:ea typeface="Cambria" panose="02040503050406030204" pitchFamily="18" charset="0"/>
              </a:rPr>
              <a:t>This algorithm is also used to solve the fractional knapsack problem.</a:t>
            </a:r>
            <a:endParaRPr lang="en-IN" dirty="0">
              <a:ea typeface="Cambria" panose="02040503050406030204" pitchFamily="18" charset="0"/>
            </a:endParaRPr>
          </a:p>
        </p:txBody>
      </p:sp>
      <p:sp>
        <p:nvSpPr>
          <p:cNvPr id="8" name="Content Placeholder 7">
            <a:extLst>
              <a:ext uri="{FF2B5EF4-FFF2-40B4-BE49-F238E27FC236}">
                <a16:creationId xmlns:a16="http://schemas.microsoft.com/office/drawing/2014/main" id="{9ED79A1D-2AC6-BBB1-FE13-4026A20B3E50}"/>
              </a:ext>
            </a:extLst>
          </p:cNvPr>
          <p:cNvSpPr>
            <a:spLocks noGrp="1"/>
          </p:cNvSpPr>
          <p:nvPr>
            <p:ph sz="half" idx="2"/>
          </p:nvPr>
        </p:nvSpPr>
        <p:spPr>
          <a:xfrm>
            <a:off x="10370127" y="1080653"/>
            <a:ext cx="5181600" cy="1054245"/>
          </a:xfrm>
        </p:spPr>
        <p:txBody>
          <a:bodyPr/>
          <a:lstStyle/>
          <a:p>
            <a:endParaRPr lang="en-IN" dirty="0"/>
          </a:p>
        </p:txBody>
      </p:sp>
    </p:spTree>
    <p:extLst>
      <p:ext uri="{BB962C8B-B14F-4D97-AF65-F5344CB8AC3E}">
        <p14:creationId xmlns:p14="http://schemas.microsoft.com/office/powerpoint/2010/main" val="410691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752426" y="71837"/>
            <a:ext cx="8687148" cy="954107"/>
          </a:xfrm>
          <a:prstGeom prst="rect">
            <a:avLst/>
          </a:prstGeom>
          <a:noFill/>
        </p:spPr>
        <p:txBody>
          <a:bodyPr wrap="square">
            <a:spAutoFit/>
          </a:bodyPr>
          <a:lstStyle/>
          <a:p>
            <a:pPr algn="ctr" eaLnBrk="1" hangingPunct="1">
              <a:defRPr/>
            </a:pPr>
            <a:r>
              <a:rPr lang="en-US" altLang="en-US" sz="2800" b="1" dirty="0">
                <a:solidFill>
                  <a:srgbClr val="002060"/>
                </a:solidFill>
                <a:latin typeface="Cambria" panose="02040503050406030204" pitchFamily="18" charset="0"/>
                <a:ea typeface="Cambria" panose="02040503050406030204" pitchFamily="18" charset="0"/>
              </a:rPr>
              <a:t>PASSWORD EVALUATER AND ENHANCER USING GREEDY ALGORITHMS</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8</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071F1A4E-54F2-12A6-E68C-6FA2314BC970}"/>
              </a:ext>
            </a:extLst>
          </p:cNvPr>
          <p:cNvSpPr>
            <a:spLocks noGrp="1"/>
          </p:cNvSpPr>
          <p:nvPr>
            <p:ph sz="half" idx="1"/>
          </p:nvPr>
        </p:nvSpPr>
        <p:spPr>
          <a:xfrm>
            <a:off x="271040" y="749179"/>
            <a:ext cx="10886954" cy="4351338"/>
          </a:xfrm>
        </p:spPr>
        <p:txBody>
          <a:bodyPr/>
          <a:lstStyle/>
          <a:p>
            <a:endParaRPr lang="en-US" dirty="0"/>
          </a:p>
          <a:p>
            <a:r>
              <a:rPr lang="en-US" b="1" dirty="0">
                <a:solidFill>
                  <a:srgbClr val="FF0000"/>
                </a:solidFill>
              </a:rPr>
              <a:t>Objective: </a:t>
            </a:r>
          </a:p>
          <a:p>
            <a:pPr lvl="1"/>
            <a:r>
              <a:rPr lang="en-US" dirty="0"/>
              <a:t>Improve password security using a greedy algorithm.</a:t>
            </a:r>
          </a:p>
          <a:p>
            <a:r>
              <a:rPr lang="en-US" b="1" u="sng" dirty="0">
                <a:solidFill>
                  <a:srgbClr val="FF0000"/>
                </a:solidFill>
              </a:rPr>
              <a:t>Features:</a:t>
            </a:r>
          </a:p>
          <a:p>
            <a:r>
              <a:rPr lang="en-US" b="1" dirty="0">
                <a:solidFill>
                  <a:srgbClr val="FF0000"/>
                </a:solidFill>
              </a:rPr>
              <a:t>Evaluate Passwords: </a:t>
            </a:r>
          </a:p>
          <a:p>
            <a:pPr lvl="1"/>
            <a:r>
              <a:rPr lang="en-US" dirty="0"/>
              <a:t>Checks length, character types, and common patterns.</a:t>
            </a:r>
          </a:p>
          <a:p>
            <a:r>
              <a:rPr lang="en-US" b="1" dirty="0">
                <a:solidFill>
                  <a:srgbClr val="FF0000"/>
                </a:solidFill>
              </a:rPr>
              <a:t>Greedy Improvements:</a:t>
            </a:r>
          </a:p>
          <a:p>
            <a:pPr lvl="1"/>
            <a:r>
              <a:rPr lang="en-US" dirty="0"/>
              <a:t>Add Missing Characters: Includes lowercase, uppercase, digits, and special characters.</a:t>
            </a:r>
          </a:p>
          <a:p>
            <a:pPr lvl="1"/>
            <a:r>
              <a:rPr lang="en-US" dirty="0"/>
              <a:t>Modify Patterns: Adjusts common sequences like "123" and "</a:t>
            </a:r>
            <a:r>
              <a:rPr lang="en-US" dirty="0" err="1"/>
              <a:t>abc</a:t>
            </a:r>
            <a:r>
              <a:rPr lang="en-US" dirty="0"/>
              <a:t>".</a:t>
            </a:r>
          </a:p>
          <a:p>
            <a:pPr lvl="1"/>
            <a:r>
              <a:rPr lang="en-US" dirty="0"/>
              <a:t>Break Sequences: Alters repeated character sequences.</a:t>
            </a:r>
          </a:p>
          <a:p>
            <a:r>
              <a:rPr lang="en-US" b="1" dirty="0">
                <a:solidFill>
                  <a:srgbClr val="FF0000"/>
                </a:solidFill>
              </a:rPr>
              <a:t>User Interaction: </a:t>
            </a:r>
          </a:p>
          <a:p>
            <a:pPr lvl="1"/>
            <a:r>
              <a:rPr lang="en-US" dirty="0"/>
              <a:t>Provides feedback and suggestions to strengthen passwords.</a:t>
            </a:r>
            <a:endParaRPr lang="en-IN" dirty="0"/>
          </a:p>
        </p:txBody>
      </p:sp>
      <p:sp>
        <p:nvSpPr>
          <p:cNvPr id="9" name="Content Placeholder 8">
            <a:extLst>
              <a:ext uri="{FF2B5EF4-FFF2-40B4-BE49-F238E27FC236}">
                <a16:creationId xmlns:a16="http://schemas.microsoft.com/office/drawing/2014/main" id="{EB837879-F197-FBBB-69B1-FF87BDC86580}"/>
              </a:ext>
            </a:extLst>
          </p:cNvPr>
          <p:cNvSpPr>
            <a:spLocks noGrp="1"/>
          </p:cNvSpPr>
          <p:nvPr>
            <p:ph sz="half" idx="2"/>
          </p:nvPr>
        </p:nvSpPr>
        <p:spPr>
          <a:xfrm flipH="1">
            <a:off x="11353800" y="1825625"/>
            <a:ext cx="371354" cy="118922"/>
          </a:xfrm>
        </p:spPr>
        <p:txBody>
          <a:bodyPr/>
          <a:lstStyle/>
          <a:p>
            <a:endParaRPr lang="en-IN" dirty="0"/>
          </a:p>
        </p:txBody>
      </p:sp>
    </p:spTree>
    <p:extLst>
      <p:ext uri="{BB962C8B-B14F-4D97-AF65-F5344CB8AC3E}">
        <p14:creationId xmlns:p14="http://schemas.microsoft.com/office/powerpoint/2010/main" val="361054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752426" y="71837"/>
            <a:ext cx="8687148" cy="954107"/>
          </a:xfrm>
          <a:prstGeom prst="rect">
            <a:avLst/>
          </a:prstGeom>
          <a:noFill/>
        </p:spPr>
        <p:txBody>
          <a:bodyPr wrap="square">
            <a:spAutoFit/>
          </a:bodyPr>
          <a:lstStyle/>
          <a:p>
            <a:pPr algn="ctr" eaLnBrk="1" hangingPunct="1">
              <a:defRPr/>
            </a:pPr>
            <a:r>
              <a:rPr lang="en-US" altLang="en-US" sz="2800" b="1" dirty="0">
                <a:solidFill>
                  <a:srgbClr val="002060"/>
                </a:solidFill>
                <a:latin typeface="Cambria" panose="02040503050406030204" pitchFamily="18" charset="0"/>
                <a:ea typeface="Cambria" panose="02040503050406030204" pitchFamily="18" charset="0"/>
              </a:rPr>
              <a:t>GREEDY APPROACH IN PASSWORD STRENGTH ENHANCER</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9</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BDEE2AF3-04A5-0B76-5850-AA5732934460}"/>
              </a:ext>
            </a:extLst>
          </p:cNvPr>
          <p:cNvSpPr>
            <a:spLocks noGrp="1"/>
          </p:cNvSpPr>
          <p:nvPr>
            <p:ph sz="half" idx="1"/>
          </p:nvPr>
        </p:nvSpPr>
        <p:spPr>
          <a:xfrm>
            <a:off x="165990" y="1154294"/>
            <a:ext cx="11860019" cy="4351338"/>
          </a:xfrm>
        </p:spPr>
        <p:txBody>
          <a:bodyPr/>
          <a:lstStyle/>
          <a:p>
            <a:pPr algn="just"/>
            <a:r>
              <a:rPr lang="en-US" sz="2400" b="1" dirty="0">
                <a:solidFill>
                  <a:srgbClr val="FF0000"/>
                </a:solidFill>
              </a:rPr>
              <a:t>Character Type Addition:</a:t>
            </a:r>
          </a:p>
          <a:p>
            <a:pPr lvl="1" algn="just"/>
            <a:r>
              <a:rPr lang="en-US" sz="2000" dirty="0"/>
              <a:t>The algorithm greedily adds missing character types (lowercase, uppercase, digit, special character) to the password to meet the requirements. It adds characters one at a time until the password length approaches the maximum allowed.</a:t>
            </a:r>
          </a:p>
          <a:p>
            <a:pPr algn="just"/>
            <a:r>
              <a:rPr lang="en-US" sz="2400" b="1" dirty="0">
                <a:solidFill>
                  <a:srgbClr val="FF0000"/>
                </a:solidFill>
              </a:rPr>
              <a:t>Pattern and Sequence Breaking:</a:t>
            </a:r>
          </a:p>
          <a:p>
            <a:pPr lvl="1" algn="just"/>
            <a:r>
              <a:rPr lang="en-US" sz="2000" dirty="0"/>
              <a:t>The algorithm identifies and modifies common patterns or sequences (like "123", "</a:t>
            </a:r>
            <a:r>
              <a:rPr lang="en-US" sz="2000" dirty="0" err="1"/>
              <a:t>abc</a:t>
            </a:r>
            <a:r>
              <a:rPr lang="en-US" sz="2000" dirty="0"/>
              <a:t>", "qwerty") to improve password strength. It changes characters in these patterns to reduce predictability.</a:t>
            </a:r>
          </a:p>
          <a:p>
            <a:pPr algn="just"/>
            <a:r>
              <a:rPr lang="en-US" sz="2400" b="1" dirty="0">
                <a:solidFill>
                  <a:srgbClr val="FF0000"/>
                </a:solidFill>
              </a:rPr>
              <a:t>Sequence Modification:</a:t>
            </a:r>
          </a:p>
          <a:p>
            <a:pPr lvl="1" algn="just"/>
            <a:r>
              <a:rPr lang="en-US" sz="2000" dirty="0"/>
              <a:t>To ensure that no sequences of repeated characters are present, the algorithm makes small changes to break these sequences (e.g., changing '</a:t>
            </a:r>
            <a:r>
              <a:rPr lang="en-US" sz="2000" dirty="0" err="1"/>
              <a:t>aaa</a:t>
            </a:r>
            <a:r>
              <a:rPr lang="en-US" sz="2000" dirty="0"/>
              <a:t>' to '</a:t>
            </a:r>
            <a:r>
              <a:rPr lang="en-US" sz="2000" dirty="0" err="1"/>
              <a:t>aab</a:t>
            </a:r>
            <a:r>
              <a:rPr lang="en-US" sz="2000" dirty="0"/>
              <a:t>' or 'aba').</a:t>
            </a:r>
          </a:p>
          <a:p>
            <a:pPr algn="just"/>
            <a:r>
              <a:rPr lang="en-US" sz="2400" b="1" dirty="0">
                <a:solidFill>
                  <a:srgbClr val="FF0000"/>
                </a:solidFill>
              </a:rPr>
              <a:t>Summary of the Greedy Steps:</a:t>
            </a:r>
          </a:p>
          <a:p>
            <a:pPr lvl="1" algn="just"/>
            <a:r>
              <a:rPr lang="en-US" sz="2000" u="sng" dirty="0"/>
              <a:t>Add Missing Character Types: </a:t>
            </a:r>
            <a:r>
              <a:rPr lang="en-US" sz="2000" dirty="0"/>
              <a:t>Adds one missing type at a time to ensure all character types are included.</a:t>
            </a:r>
          </a:p>
          <a:p>
            <a:pPr lvl="1" algn="just"/>
            <a:r>
              <a:rPr lang="en-US" sz="2000" u="sng" dirty="0"/>
              <a:t>Modify Common Patterns</a:t>
            </a:r>
            <a:r>
              <a:rPr lang="en-US" sz="2000" dirty="0"/>
              <a:t>: Adjusts characters in common patterns to enhance complexity.</a:t>
            </a:r>
          </a:p>
          <a:p>
            <a:pPr lvl="1" algn="just"/>
            <a:r>
              <a:rPr lang="en-US" sz="2000" u="sng" dirty="0"/>
              <a:t>Break Repeated Sequences</a:t>
            </a:r>
            <a:r>
              <a:rPr lang="en-US" sz="2000" dirty="0"/>
              <a:t>: Alters sequences of repeated characters to prevent predictability.</a:t>
            </a:r>
            <a:endParaRPr lang="en-IN" sz="2000" dirty="0"/>
          </a:p>
        </p:txBody>
      </p:sp>
      <p:sp>
        <p:nvSpPr>
          <p:cNvPr id="9" name="Content Placeholder 8">
            <a:extLst>
              <a:ext uri="{FF2B5EF4-FFF2-40B4-BE49-F238E27FC236}">
                <a16:creationId xmlns:a16="http://schemas.microsoft.com/office/drawing/2014/main" id="{09B14408-8225-AC99-8528-4433876ADFD5}"/>
              </a:ext>
            </a:extLst>
          </p:cNvPr>
          <p:cNvSpPr>
            <a:spLocks noGrp="1"/>
          </p:cNvSpPr>
          <p:nvPr>
            <p:ph sz="half" idx="2"/>
          </p:nvPr>
        </p:nvSpPr>
        <p:spPr>
          <a:xfrm flipH="1">
            <a:off x="13030373" y="1154294"/>
            <a:ext cx="60593" cy="535610"/>
          </a:xfrm>
        </p:spPr>
        <p:txBody>
          <a:bodyPr/>
          <a:lstStyle/>
          <a:p>
            <a:endParaRPr lang="en-IN"/>
          </a:p>
        </p:txBody>
      </p:sp>
    </p:spTree>
    <p:extLst>
      <p:ext uri="{BB962C8B-B14F-4D97-AF65-F5344CB8AC3E}">
        <p14:creationId xmlns:p14="http://schemas.microsoft.com/office/powerpoint/2010/main" val="2770416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752426" y="71837"/>
            <a:ext cx="8687148" cy="954107"/>
          </a:xfrm>
          <a:prstGeom prst="rect">
            <a:avLst/>
          </a:prstGeom>
          <a:noFill/>
        </p:spPr>
        <p:txBody>
          <a:bodyPr wrap="square">
            <a:spAutoFit/>
          </a:bodyPr>
          <a:lstStyle/>
          <a:p>
            <a:pPr algn="ctr" eaLnBrk="1" hangingPunct="1">
              <a:defRPr/>
            </a:pPr>
            <a:r>
              <a:rPr lang="en-US" altLang="en-US" sz="2800" b="1" dirty="0">
                <a:solidFill>
                  <a:srgbClr val="002060"/>
                </a:solidFill>
                <a:latin typeface="Cambria" panose="02040503050406030204" pitchFamily="18" charset="0"/>
                <a:ea typeface="Cambria" panose="02040503050406030204" pitchFamily="18" charset="0"/>
              </a:rPr>
              <a:t>PASSWORD EVALUATER AND ENHANCER USING GREEDY ALGORITHMS</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10</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pic>
        <p:nvPicPr>
          <p:cNvPr id="11" name="Content Placeholder 10">
            <a:extLst>
              <a:ext uri="{FF2B5EF4-FFF2-40B4-BE49-F238E27FC236}">
                <a16:creationId xmlns:a16="http://schemas.microsoft.com/office/drawing/2014/main" id="{B04239DA-B702-C6C4-206A-2D6A0CD91D51}"/>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6504" t="3821" r="7099" b="50717"/>
          <a:stretch/>
        </p:blipFill>
        <p:spPr>
          <a:xfrm>
            <a:off x="669235" y="1121046"/>
            <a:ext cx="4940006" cy="5523594"/>
          </a:xfrm>
        </p:spPr>
      </p:pic>
      <p:pic>
        <p:nvPicPr>
          <p:cNvPr id="13" name="Content Placeholder 12">
            <a:extLst>
              <a:ext uri="{FF2B5EF4-FFF2-40B4-BE49-F238E27FC236}">
                <a16:creationId xmlns:a16="http://schemas.microsoft.com/office/drawing/2014/main" id="{413371BC-4684-813C-F2FE-7A8E9F948B1D}"/>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l="6461" t="50507" r="7019" b="3656"/>
          <a:stretch/>
        </p:blipFill>
        <p:spPr>
          <a:xfrm>
            <a:off x="6297302" y="1121046"/>
            <a:ext cx="4939200" cy="5560586"/>
          </a:xfrm>
        </p:spPr>
      </p:pic>
    </p:spTree>
    <p:extLst>
      <p:ext uri="{BB962C8B-B14F-4D97-AF65-F5344CB8AC3E}">
        <p14:creationId xmlns:p14="http://schemas.microsoft.com/office/powerpoint/2010/main" val="819745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752426" y="71837"/>
            <a:ext cx="8687148" cy="523220"/>
          </a:xfrm>
          <a:prstGeom prst="rect">
            <a:avLst/>
          </a:prstGeom>
          <a:noFill/>
        </p:spPr>
        <p:txBody>
          <a:bodyPr wrap="square">
            <a:spAutoFit/>
          </a:bodyPr>
          <a:lstStyle/>
          <a:p>
            <a:pPr algn="ctr" eaLnBrk="1" hangingPunct="1">
              <a:defRPr/>
            </a:pPr>
            <a:r>
              <a:rPr lang="en-US" altLang="en-US" sz="2800" b="1" dirty="0">
                <a:solidFill>
                  <a:srgbClr val="002060"/>
                </a:solidFill>
                <a:latin typeface="Cambria" panose="02040503050406030204" pitchFamily="18" charset="0"/>
                <a:ea typeface="Cambria" panose="02040503050406030204" pitchFamily="18" charset="0"/>
              </a:rPr>
              <a:t>OUTPUT </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11</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7F90F943-F078-7B13-1E3A-19CAB6A4AC58}"/>
              </a:ext>
            </a:extLst>
          </p:cNvPr>
          <p:cNvSpPr>
            <a:spLocks noGrp="1"/>
          </p:cNvSpPr>
          <p:nvPr>
            <p:ph sz="half" idx="1"/>
          </p:nvPr>
        </p:nvSpPr>
        <p:spPr>
          <a:xfrm>
            <a:off x="261504" y="1077677"/>
            <a:ext cx="11092296" cy="384415"/>
          </a:xfrm>
        </p:spPr>
        <p:txBody>
          <a:bodyPr/>
          <a:lstStyle/>
          <a:p>
            <a:r>
              <a:rPr lang="en-US" dirty="0"/>
              <a:t>Case 1 : user enter weak password</a:t>
            </a:r>
            <a:endParaRPr lang="en-IN" dirty="0"/>
          </a:p>
          <a:p>
            <a:endParaRPr lang="en-IN" dirty="0"/>
          </a:p>
        </p:txBody>
      </p:sp>
      <p:pic>
        <p:nvPicPr>
          <p:cNvPr id="5" name="Content Placeholder 4">
            <a:extLst>
              <a:ext uri="{FF2B5EF4-FFF2-40B4-BE49-F238E27FC236}">
                <a16:creationId xmlns:a16="http://schemas.microsoft.com/office/drawing/2014/main" id="{5237CD38-B5DE-1221-89DF-AAA05E03A12D}"/>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t="10181" b="38214"/>
          <a:stretch/>
        </p:blipFill>
        <p:spPr>
          <a:xfrm>
            <a:off x="807543" y="1556086"/>
            <a:ext cx="5433102" cy="4984410"/>
          </a:xfrm>
        </p:spPr>
      </p:pic>
      <p:pic>
        <p:nvPicPr>
          <p:cNvPr id="8" name="Content Placeholder 4">
            <a:extLst>
              <a:ext uri="{FF2B5EF4-FFF2-40B4-BE49-F238E27FC236}">
                <a16:creationId xmlns:a16="http://schemas.microsoft.com/office/drawing/2014/main" id="{E5091566-510B-2F01-CDB4-888A2B333010}"/>
              </a:ext>
            </a:extLst>
          </p:cNvPr>
          <p:cNvPicPr>
            <a:picLocks noChangeAspect="1"/>
          </p:cNvPicPr>
          <p:nvPr/>
        </p:nvPicPr>
        <p:blipFill rotWithShape="1">
          <a:blip r:embed="rId3">
            <a:extLst>
              <a:ext uri="{28A0092B-C50C-407E-A947-70E740481C1C}">
                <a14:useLocalDpi xmlns:a14="http://schemas.microsoft.com/office/drawing/2010/main" val="0"/>
              </a:ext>
            </a:extLst>
          </a:blip>
          <a:srcRect t="62051" b="12666"/>
          <a:stretch/>
        </p:blipFill>
        <p:spPr>
          <a:xfrm>
            <a:off x="6095999" y="1462092"/>
            <a:ext cx="5432400" cy="2441710"/>
          </a:xfrm>
          <a:prstGeom prst="rect">
            <a:avLst/>
          </a:prstGeom>
        </p:spPr>
      </p:pic>
    </p:spTree>
    <p:extLst>
      <p:ext uri="{BB962C8B-B14F-4D97-AF65-F5344CB8AC3E}">
        <p14:creationId xmlns:p14="http://schemas.microsoft.com/office/powerpoint/2010/main" val="2070677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752426" y="71837"/>
            <a:ext cx="8687148" cy="523220"/>
          </a:xfrm>
          <a:prstGeom prst="rect">
            <a:avLst/>
          </a:prstGeom>
          <a:noFill/>
        </p:spPr>
        <p:txBody>
          <a:bodyPr wrap="square">
            <a:spAutoFit/>
          </a:bodyPr>
          <a:lstStyle/>
          <a:p>
            <a:pPr algn="ctr" eaLnBrk="1" hangingPunct="1">
              <a:defRPr/>
            </a:pPr>
            <a:r>
              <a:rPr lang="en-US" altLang="en-US" sz="2800" b="1" dirty="0">
                <a:solidFill>
                  <a:srgbClr val="002060"/>
                </a:solidFill>
                <a:latin typeface="Cambria" panose="02040503050406030204" pitchFamily="18" charset="0"/>
                <a:ea typeface="Cambria" panose="02040503050406030204" pitchFamily="18" charset="0"/>
              </a:rPr>
              <a:t>OUTPUT </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12</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7F90F943-F078-7B13-1E3A-19CAB6A4AC58}"/>
              </a:ext>
            </a:extLst>
          </p:cNvPr>
          <p:cNvSpPr>
            <a:spLocks noGrp="1"/>
          </p:cNvSpPr>
          <p:nvPr>
            <p:ph sz="half" idx="1"/>
          </p:nvPr>
        </p:nvSpPr>
        <p:spPr>
          <a:xfrm>
            <a:off x="640080" y="1112521"/>
            <a:ext cx="11201400" cy="387932"/>
          </a:xfrm>
        </p:spPr>
        <p:txBody>
          <a:bodyPr/>
          <a:lstStyle/>
          <a:p>
            <a:r>
              <a:rPr lang="en-US" dirty="0"/>
              <a:t>Case 2 :user enter strong password</a:t>
            </a:r>
            <a:endParaRPr lang="en-IN" dirty="0"/>
          </a:p>
        </p:txBody>
      </p:sp>
      <p:sp>
        <p:nvSpPr>
          <p:cNvPr id="9" name="Content Placeholder 8">
            <a:extLst>
              <a:ext uri="{FF2B5EF4-FFF2-40B4-BE49-F238E27FC236}">
                <a16:creationId xmlns:a16="http://schemas.microsoft.com/office/drawing/2014/main" id="{5A5BDBE7-BCB0-2BE2-B810-ABBC9C4CEA5D}"/>
              </a:ext>
            </a:extLst>
          </p:cNvPr>
          <p:cNvSpPr>
            <a:spLocks noGrp="1"/>
          </p:cNvSpPr>
          <p:nvPr>
            <p:ph sz="half" idx="2"/>
          </p:nvPr>
        </p:nvSpPr>
        <p:spPr/>
        <p:txBody>
          <a:bodyPr/>
          <a:lstStyle/>
          <a:p>
            <a:endParaRPr lang="en-IN" dirty="0"/>
          </a:p>
        </p:txBody>
      </p:sp>
      <p:pic>
        <p:nvPicPr>
          <p:cNvPr id="8" name="Picture 7">
            <a:extLst>
              <a:ext uri="{FF2B5EF4-FFF2-40B4-BE49-F238E27FC236}">
                <a16:creationId xmlns:a16="http://schemas.microsoft.com/office/drawing/2014/main" id="{A55EFA7F-6B9E-DF7D-EB19-36D2546527C6}"/>
              </a:ext>
            </a:extLst>
          </p:cNvPr>
          <p:cNvPicPr>
            <a:picLocks noChangeAspect="1"/>
          </p:cNvPicPr>
          <p:nvPr/>
        </p:nvPicPr>
        <p:blipFill>
          <a:blip r:embed="rId3"/>
          <a:stretch>
            <a:fillRect/>
          </a:stretch>
        </p:blipFill>
        <p:spPr>
          <a:xfrm>
            <a:off x="937549" y="1500453"/>
            <a:ext cx="6818565" cy="5285710"/>
          </a:xfrm>
          <a:prstGeom prst="rect">
            <a:avLst/>
          </a:prstGeom>
        </p:spPr>
      </p:pic>
    </p:spTree>
    <p:extLst>
      <p:ext uri="{BB962C8B-B14F-4D97-AF65-F5344CB8AC3E}">
        <p14:creationId xmlns:p14="http://schemas.microsoft.com/office/powerpoint/2010/main" val="2931907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752426" y="71837"/>
            <a:ext cx="8687148" cy="523220"/>
          </a:xfrm>
          <a:prstGeom prst="rect">
            <a:avLst/>
          </a:prstGeom>
          <a:noFill/>
        </p:spPr>
        <p:txBody>
          <a:bodyPr wrap="square">
            <a:spAutoFit/>
          </a:bodyPr>
          <a:lstStyle/>
          <a:p>
            <a:pPr algn="ctr" eaLnBrk="1" hangingPunct="1">
              <a:defRPr/>
            </a:pPr>
            <a:r>
              <a:rPr lang="en-US" altLang="en-US" sz="2800" b="1" dirty="0">
                <a:solidFill>
                  <a:srgbClr val="002060"/>
                </a:solidFill>
                <a:latin typeface="Cambria" panose="02040503050406030204" pitchFamily="18" charset="0"/>
                <a:ea typeface="Cambria" panose="02040503050406030204" pitchFamily="18" charset="0"/>
              </a:rPr>
              <a:t>CONCLUSION</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13</a:t>
            </a:fld>
            <a:endParaRPr lang="en-US">
              <a:solidFill>
                <a:schemeClr val="tx1"/>
              </a:solidFill>
            </a:endParaRPr>
          </a:p>
        </p:txBody>
      </p:sp>
      <p:sp>
        <p:nvSpPr>
          <p:cNvPr id="6" name="Title 5">
            <a:extLst>
              <a:ext uri="{FF2B5EF4-FFF2-40B4-BE49-F238E27FC236}">
                <a16:creationId xmlns:a16="http://schemas.microsoft.com/office/drawing/2014/main" id="{1A28B63B-2896-AF39-05E4-4EC874791B8F}"/>
              </a:ext>
            </a:extLst>
          </p:cNvPr>
          <p:cNvSpPr>
            <a:spLocks noGrp="1"/>
          </p:cNvSpPr>
          <p:nvPr>
            <p:ph type="title"/>
          </p:nvPr>
        </p:nvSpPr>
        <p:spPr>
          <a:xfrm flipV="1">
            <a:off x="838200" y="317504"/>
            <a:ext cx="523009" cy="47621"/>
          </a:xfrm>
        </p:spPr>
        <p:txBody>
          <a:bodyPr/>
          <a:lstStyle/>
          <a:p>
            <a:endParaRPr lang="en-IN" dirty="0"/>
          </a:p>
        </p:txBody>
      </p:sp>
      <p:sp>
        <p:nvSpPr>
          <p:cNvPr id="7" name="Content Placeholder 6">
            <a:extLst>
              <a:ext uri="{FF2B5EF4-FFF2-40B4-BE49-F238E27FC236}">
                <a16:creationId xmlns:a16="http://schemas.microsoft.com/office/drawing/2014/main" id="{BDEE2AF3-04A5-0B76-5850-AA5732934460}"/>
              </a:ext>
            </a:extLst>
          </p:cNvPr>
          <p:cNvSpPr>
            <a:spLocks noGrp="1"/>
          </p:cNvSpPr>
          <p:nvPr>
            <p:ph sz="half" idx="1"/>
          </p:nvPr>
        </p:nvSpPr>
        <p:spPr>
          <a:xfrm>
            <a:off x="165990" y="1154294"/>
            <a:ext cx="11860019" cy="4351338"/>
          </a:xfrm>
        </p:spPr>
        <p:txBody>
          <a:bodyPr/>
          <a:lstStyle/>
          <a:p>
            <a:endParaRPr lang="en-US" sz="2400" dirty="0"/>
          </a:p>
          <a:p>
            <a:r>
              <a:rPr lang="en-US" sz="2400" dirty="0"/>
              <a:t>We successfully designed a Password Evaluator and Enhancer using Greedy Algorithms. The system evaluates and strengthens passwords by adding missing character types, modifying common patterns, and breaking repeated sequences. This approach improves password security against brute-force attacks and enhances overall password strength.</a:t>
            </a:r>
          </a:p>
          <a:p>
            <a:endParaRPr lang="en-US" sz="2400" dirty="0"/>
          </a:p>
          <a:p>
            <a:r>
              <a:rPr lang="en-US" sz="2400" dirty="0"/>
              <a:t>The project showcases the effectiveness of greedy algorithms in optimizing solutions for password security. Future work could refine the algorithm for more complex requirements and explore other cybersecurity applications.</a:t>
            </a:r>
          </a:p>
          <a:p>
            <a:pPr algn="just"/>
            <a:endParaRPr lang="en-IN" sz="2000" dirty="0"/>
          </a:p>
        </p:txBody>
      </p:sp>
      <p:sp>
        <p:nvSpPr>
          <p:cNvPr id="9" name="Content Placeholder 8">
            <a:extLst>
              <a:ext uri="{FF2B5EF4-FFF2-40B4-BE49-F238E27FC236}">
                <a16:creationId xmlns:a16="http://schemas.microsoft.com/office/drawing/2014/main" id="{09B14408-8225-AC99-8528-4433876ADFD5}"/>
              </a:ext>
            </a:extLst>
          </p:cNvPr>
          <p:cNvSpPr>
            <a:spLocks noGrp="1"/>
          </p:cNvSpPr>
          <p:nvPr>
            <p:ph sz="half" idx="2"/>
          </p:nvPr>
        </p:nvSpPr>
        <p:spPr>
          <a:xfrm flipH="1">
            <a:off x="13030373" y="1154294"/>
            <a:ext cx="60593" cy="535610"/>
          </a:xfrm>
        </p:spPr>
        <p:txBody>
          <a:bodyPr/>
          <a:lstStyle/>
          <a:p>
            <a:endParaRPr lang="en-IN"/>
          </a:p>
        </p:txBody>
      </p:sp>
    </p:spTree>
    <p:extLst>
      <p:ext uri="{BB962C8B-B14F-4D97-AF65-F5344CB8AC3E}">
        <p14:creationId xmlns:p14="http://schemas.microsoft.com/office/powerpoint/2010/main" val="1764019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4F90E-2157-B5AA-0EEE-86AE3426BF0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8ABA038A-E8FD-8AAB-8592-211CF6415EC7}"/>
              </a:ext>
            </a:extLst>
          </p:cNvPr>
          <p:cNvSpPr>
            <a:spLocks noGrp="1"/>
          </p:cNvSpPr>
          <p:nvPr>
            <p:ph idx="1"/>
          </p:nvPr>
        </p:nvSpPr>
        <p:spPr>
          <a:xfrm>
            <a:off x="2971800" y="2899063"/>
            <a:ext cx="8382000" cy="3277899"/>
          </a:xfrm>
        </p:spPr>
        <p:txBody>
          <a:bodyPr/>
          <a:lstStyle/>
          <a:p>
            <a:pPr marL="0" indent="0">
              <a:buNone/>
            </a:pPr>
            <a:r>
              <a:rPr lang="en-US" sz="9600" dirty="0">
                <a:latin typeface="Franklin Gothic Heavy" panose="020B0903020102020204" pitchFamily="34" charset="0"/>
              </a:rPr>
              <a:t>THANK YOU</a:t>
            </a:r>
            <a:endParaRPr lang="en-IN" sz="9600" dirty="0">
              <a:latin typeface="Franklin Gothic Heavy" panose="020B0903020102020204" pitchFamily="34" charset="0"/>
            </a:endParaRPr>
          </a:p>
        </p:txBody>
      </p:sp>
    </p:spTree>
    <p:extLst>
      <p:ext uri="{BB962C8B-B14F-4D97-AF65-F5344CB8AC3E}">
        <p14:creationId xmlns:p14="http://schemas.microsoft.com/office/powerpoint/2010/main" val="728510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B8A150FCE95541A6E48575FBA4EB4D" ma:contentTypeVersion="5" ma:contentTypeDescription="Create a new document." ma:contentTypeScope="" ma:versionID="bbc616291fc1951f10a29b01335d5597">
  <xsd:schema xmlns:xsd="http://www.w3.org/2001/XMLSchema" xmlns:xs="http://www.w3.org/2001/XMLSchema" xmlns:p="http://schemas.microsoft.com/office/2006/metadata/properties" xmlns:ns2="ea9859a6-3590-44b1-8928-86e279804202" targetNamespace="http://schemas.microsoft.com/office/2006/metadata/properties" ma:root="true" ma:fieldsID="e600fbb90e39d466ad97bb2c70096c04" ns2:_="">
    <xsd:import namespace="ea9859a6-3590-44b1-8928-86e27980420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9859a6-3590-44b1-8928-86e2798042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A8AE1F-0783-4D79-A250-F3933C92314B}">
  <ds:schemaRefs>
    <ds:schemaRef ds:uri="http://schemas.microsoft.com/sharepoint/v3/contenttype/forms"/>
  </ds:schemaRefs>
</ds:datastoreItem>
</file>

<file path=customXml/itemProps2.xml><?xml version="1.0" encoding="utf-8"?>
<ds:datastoreItem xmlns:ds="http://schemas.openxmlformats.org/officeDocument/2006/customXml" ds:itemID="{0E6EF213-B1CF-4C3D-A6AF-BBC081E3785D}">
  <ds:schemaRefs>
    <ds:schemaRef ds:uri="http://schemas.microsoft.com/office/2006/documentManagement/types"/>
    <ds:schemaRef ds:uri="http://schemas.microsoft.com/office/2006/metadata/properties"/>
    <ds:schemaRef ds:uri="http://purl.org/dc/elements/1.1/"/>
    <ds:schemaRef ds:uri="ea9859a6-3590-44b1-8928-86e279804202"/>
    <ds:schemaRef ds:uri="http://www.w3.org/XML/1998/namespace"/>
    <ds:schemaRef ds:uri="http://purl.org/dc/dcmitype/"/>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A40781B0-7C67-4F37-9703-FFC91DDACEBC}">
  <ds:schemaRefs>
    <ds:schemaRef ds:uri="http://schemas.microsoft.com/office/2006/metadata/contentType"/>
    <ds:schemaRef ds:uri="http://schemas.microsoft.com/office/2006/metadata/properties/metaAttributes"/>
    <ds:schemaRef ds:uri="http://www.w3.org/2000/xmlns/"/>
    <ds:schemaRef ds:uri="http://www.w3.org/2001/XMLSchema"/>
    <ds:schemaRef ds:uri="ea9859a6-3590-44b1-8928-86e27980420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1447</TotalTime>
  <Words>940</Words>
  <Application>Microsoft Office PowerPoint</Application>
  <PresentationFormat>Widescreen</PresentationFormat>
  <Paragraphs>118</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Franklin Gothic Heavy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Ishita Theba</dc:creator>
  <cp:lastModifiedBy>Harshil Patel</cp:lastModifiedBy>
  <cp:revision>168</cp:revision>
  <dcterms:created xsi:type="dcterms:W3CDTF">2020-10-07T10:42:16Z</dcterms:created>
  <dcterms:modified xsi:type="dcterms:W3CDTF">2024-08-14T03:57:04Z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0x010100F3B8A150FCE95541A6E48575FBA4EB4D</vt:lpwstr>
  </property>
</Properties>
</file>